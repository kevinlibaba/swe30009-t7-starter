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37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theory recap. Lecture 10 is 'mutants and operators', Lecture 11 is 'killing and mutation score'. The tool does both and they will see each on screen within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at most. Everything on this slide they will see for real on screen within the next twenty minutes; the point is only so that the three commands make sense when they run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room will have installed at home. Spend these five minutes only on the ones who have not, and on Mac users who hit 'command not found' - the python3 -m form fixes it without touching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student's function has a different name or signature, the test changes accordingly - that is all. On Windows, if test-command fails, replace python3 with python. A starter package with these exact files exists for anyone who is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should get to a report. Numbers will differ by program; that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task this week. Let them poke at the diffs and the HTML report. If someone asks why a &gt; to &gt;= swap survived, point them back to Tutorial 5 - and say the rest is Tutorial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7BF447-CB54-033D-8098-8925E855DFF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413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SWE30009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Tutorial 7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 testing with Cosmic Ray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011680" cy="18288"/>
          </a:xfrm>
          <a:prstGeom prst="rect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only about the tool: install it, point it at your program,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it reports. Next week you will put it to work.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Tutorial 5 program    |    Lectures 10 and 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Cosmic Ray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mutation testing tool for Python, open source, installed with pip. It does the two things Lectures 10 and 11 describe,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84778" cy="2880360"/>
          </a:xfrm>
          <a:prstGeom prst="roundRect">
            <a:avLst>
              <a:gd name="adj" fmla="val 1905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mutants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9184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your program and applies mutation operators to it - swap  &gt;  for  &gt;= , change a constant, drop a loop body. Every mutant is one small change to your code.  (Lecture 10)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3458" y="2148840"/>
            <a:ext cx="3484778" cy="2880360"/>
          </a:xfrm>
          <a:prstGeom prst="roundRect">
            <a:avLst>
              <a:gd name="adj" fmla="val 1905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7778" y="237744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2777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8803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tests on each one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329184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suite runs against every mutant. If some test fails, the mutant is killed. If all tests pass, the mutant survived.  (Lecture 11)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6837" y="2148840"/>
            <a:ext cx="3484778" cy="2880360"/>
          </a:xfrm>
          <a:prstGeom prst="roundRect">
            <a:avLst>
              <a:gd name="adj" fmla="val 1905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41157" y="237744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41157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41157" y="28803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score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41157" y="3291840"/>
            <a:ext cx="29361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over total: the mutation score. Plus, for every survivor, the exact diff that your tests failed to notice.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990011"/>
          </a:solidFill>
          <a:ln w="63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0120" y="5257800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name: a cosmic ray hitting a chip flips one bit at random. This tool flips one operator in your code at a time - and asks whether your tests notice.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5-12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1 - install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990011"/>
          </a:solidFill>
          <a:ln w="63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55448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906524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cosmic-ray pytest</a:t>
            </a:r>
            <a:endParaRPr lang="en-US" sz="1500" dirty="0"/>
          </a:p>
          <a:p>
            <a:pPr marL="0" indent="0">
              <a:lnSpc>
                <a:spcPts val="232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install cosmic-ray pytest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5544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whichever of pip / pip3 matches the python you normally run. Ideally done before the tutorial.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10911535" cy="1097280"/>
          </a:xfrm>
          <a:prstGeom prst="roundRect">
            <a:avLst>
              <a:gd name="adj" fmla="val 5000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0120" y="30815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4747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25"/>
              </a:lnSpc>
              <a:buNone/>
            </a:pPr>
            <a:r>
              <a:rPr lang="en-US" sz="15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cosmic-ray --version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308152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print  cosmic-ray, version 8.x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60120" y="4379976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not found?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7320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cosmic-ray   -&gt;  python3 -m cosmic_ray.cli</a:t>
            </a: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cr-report    -&gt;  python3 -m cosmic_ray.tools.report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4379976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 worked; the shell just cannot see it. Use these forms instead, for every command on the next slides.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12-25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2 - set up: your program plus two 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544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empty folder and go into it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836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38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t7 &amp;&amp; cd t7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194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lives here. At the end it holds greatest_smallest.py, cr.toml and tests/.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4261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606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Tutorial 5 program in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38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greatest_smallest.py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246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.py file, any name. If yours is not called greatest_smallest.py, use your name in the two files on the right.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657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test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986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38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tests/test_greatest_smallest.py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tests/ with one pytest function - the handout example, shown on the right.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7091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config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038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38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cr.toml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5349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eight lines on the right. Only module-path ever needs changing.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1554480"/>
            <a:ext cx="4647895" cy="2240280"/>
          </a:xfrm>
          <a:prstGeom prst="roundRect">
            <a:avLst>
              <a:gd name="adj" fmla="val 2449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17804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cr.toml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029968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[cosmic-ray]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module-path = "greatest_smallest.py"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= 10.0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excluded-modules = []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test-command = "python3 -m pytest -x -q tests"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[cosmic-ray.distributor]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"local"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3720" y="3931920"/>
            <a:ext cx="4647895" cy="1645920"/>
          </a:xfrm>
          <a:prstGeom prst="roundRect">
            <a:avLst>
              <a:gd name="adj" fmla="val 3333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1780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tests/test_greatest_smallest.py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37083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greatest_smallest import two_extremes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test_example():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xs = [3, -7, 10, 8, 5, -4, 10, -2, 3, -9, 10]</a:t>
            </a:r>
            <a:endParaRPr lang="en-US" sz="1050" dirty="0"/>
          </a:p>
          <a:p>
            <a:pPr marL="0" indent="0">
              <a:lnSpc>
                <a:spcPts val="1628"/>
              </a:lnSpc>
              <a:buNone/>
            </a:pPr>
            <a:r>
              <a:rPr lang="en-US" sz="105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two_extremes(xs) == (10, 10, -9, -7)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870448"/>
            <a:ext cx="10911535" cy="841248"/>
          </a:xfrm>
          <a:prstGeom prst="roundRect">
            <a:avLst>
              <a:gd name="adj" fmla="val 6522"/>
            </a:avLst>
          </a:prstGeom>
          <a:solidFill>
            <a:srgbClr val="990011"/>
          </a:solidFill>
          <a:ln w="63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60120" y="592531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Tutorial 5 program ready?  Clone the starter - this exact folder, with a working program inside: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6236208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38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</a:t>
            </a:r>
            <a:r>
              <a:rPr lang="en-US" sz="12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2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Kevinlibaba</a:t>
            </a:r>
            <a:r>
              <a:rPr lang="en-US" sz="12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/swe30009-t7-starter.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t7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25-40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3 -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508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367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15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cosmic-ray init cr.toml session.sqlite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9842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every mutant and stores them in session.sqlite  (Lecture 10)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248716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6151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15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cosmic-ray exec cr.toml session.sqlite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962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tests against every mutant; a mutant is killed if a test fails on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6400800" cy="868680"/>
          </a:xfrm>
          <a:prstGeom prst="roundRect">
            <a:avLst>
              <a:gd name="adj" fmla="val 6316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465576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593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15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cr-report session.sqlite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39410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mutants, how many survived  (Lecture 11)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6400800" cy="1600200"/>
          </a:xfrm>
          <a:prstGeom prst="roundRect">
            <a:avLst>
              <a:gd name="adj" fmla="val 3429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4663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report, reference program with one test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15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jobs: 39</a:t>
            </a:r>
            <a:endParaRPr lang="en-US" sz="1300" dirty="0"/>
          </a:p>
          <a:p>
            <a:pPr marL="0" indent="0">
              <a:lnSpc>
                <a:spcPts val="2015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complete: 39 (100.00%)</a:t>
            </a:r>
            <a:endParaRPr lang="en-US" sz="1300" dirty="0"/>
          </a:p>
          <a:p>
            <a:pPr marL="0" indent="0">
              <a:lnSpc>
                <a:spcPts val="2015"/>
              </a:lnSpc>
              <a:buNone/>
            </a:pPr>
            <a:r>
              <a:rPr lang="en-US" sz="13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surviving mutants: 12 (30.77%)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0" y="1508760"/>
            <a:ext cx="4144975" cy="4617720"/>
          </a:xfrm>
          <a:prstGeom prst="roundRect">
            <a:avLst>
              <a:gd name="adj" fmla="val 1324"/>
            </a:avLst>
          </a:prstGeom>
          <a:solidFill>
            <a:srgbClr val="990011"/>
          </a:solidFill>
          <a:ln w="63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2668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2148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/ 39 = 0.69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30175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divided by total. One test, and 12 mutants pass it untouched.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gives its own numbers.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init reports 0 jobs: module-path is wrong.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everything is killed: your test fails on the original. Run  cosmic-ray baseline cr.toml  to check.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4 - read what it found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19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mutants survived, and how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84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cr-report session.sqlite --surviving-only --show-diff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5544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survivor is a diff against your program. This is Lecture 10's mutation operators, applied to your code.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20040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9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thing as a web page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3649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cr-html session.sqlite &gt; report.html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83464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report.html in a browser. Killed and surviving mutants, one per row.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911535" cy="1143000"/>
          </a:xfrm>
          <a:prstGeom prst="roundRect">
            <a:avLst>
              <a:gd name="adj" fmla="val 4800"/>
            </a:avLst>
          </a:prstGeom>
          <a:solidFill>
            <a:srgbClr val="F6E9E9"/>
          </a:solidFill>
          <a:ln w="6350">
            <a:solidFill>
              <a:srgbClr val="F6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48056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279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the tool knows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6451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cosmic-ray operators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41148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of them. Match a few to the list in Lecture 10.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990011"/>
          </a:solidFill>
          <a:ln w="635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60120" y="548640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survivor and read its diff. Can you think of an input on which it would behave differently from your program? Hold that thought - it is next week's tutorial.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3b3fa-365b-4fa2-9885-a560b35483b3}" enabled="1" method="Standard" siteId="{df7f7579-3e9c-4a7e-b844-420280f53859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Macintosh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SWE30009 Tutorial 7 - Cosmic Ray</dc:title>
  <dc:subject>PptxGenJS Presentation</dc:subject>
  <dc:creator>SWE30009</dc:creator>
  <cp:lastModifiedBy>Rui Li</cp:lastModifiedBy>
  <cp:revision>2</cp:revision>
  <dcterms:created xsi:type="dcterms:W3CDTF">2026-09-22T05:27:17Z</dcterms:created>
  <dcterms:modified xsi:type="dcterms:W3CDTF">2026-09-22T05:40:06Z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Internal</vt:lpwstr>
  </property>
</Properties>
</file>